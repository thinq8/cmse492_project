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CMSE 492 Final Project – Workflow Briefing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– Problem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Predict </a:t>
            </a:r>
            <a:r>
              <a:rPr>
                <a:latin typeface="Courier"/>
              </a:rPr>
              <a:t>blueWins</a:t>
            </a:r>
            <a:r>
              <a:rPr/>
              <a:t> using the first 10 minutes of 9,879 Diamond-ranked League of Legends matches (Kaggle).</a:t>
            </a:r>
          </a:p>
          <a:p>
            <a:pPr lvl="0"/>
            <a:r>
              <a:rPr/>
              <a:t>Target audience: shoutcasters, analysts, and AI-coaching setups who need early win-probability signals.</a:t>
            </a:r>
          </a:p>
          <a:p>
            <a:pPr lvl="0"/>
            <a:r>
              <a:rPr/>
              <a:t>Dataset traits: fully numeric, no missing values, balanced classes (~50/50). Key raw features include gold/XP totals, objectives, kill stats, vision, and towers.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 – Exploratory Data Analysis Highlights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Confirmed balanced target (class counts within 1%); logistic baseline &gt; dummy (EDA notebook </a:t>
            </a:r>
            <a:r>
              <a:rPr>
                <a:latin typeface="Courier"/>
              </a:rPr>
              <a:t>run_eda.py</a:t>
            </a:r>
            <a:r>
              <a:rPr/>
              <a:t>).</a:t>
            </a:r>
          </a:p>
          <a:p>
            <a:pPr lvl="0"/>
            <a:r>
              <a:rPr/>
              <a:t>Strong correlations: </a:t>
            </a:r>
            <a:r>
              <a:rPr>
                <a:latin typeface="Courier"/>
              </a:rPr>
              <a:t>blueGoldDiff</a:t>
            </a:r>
            <a:r>
              <a:rPr/>
              <a:t>, </a:t>
            </a:r>
            <a:r>
              <a:rPr>
                <a:latin typeface="Courier"/>
              </a:rPr>
              <a:t>blueExperienceDiff</a:t>
            </a:r>
            <a:r>
              <a:rPr/>
              <a:t>, </a:t>
            </a:r>
            <a:r>
              <a:rPr>
                <a:latin typeface="Courier"/>
              </a:rPr>
              <a:t>blueDragons</a:t>
            </a:r>
            <a:r>
              <a:rPr/>
              <a:t>, </a:t>
            </a:r>
            <a:r>
              <a:rPr>
                <a:latin typeface="Courier"/>
              </a:rPr>
              <a:t>blueHeralds</a:t>
            </a:r>
            <a:r>
              <a:rPr/>
              <a:t>, and </a:t>
            </a:r>
            <a:r>
              <a:rPr>
                <a:latin typeface="Courier"/>
              </a:rPr>
              <a:t>blueKills</a:t>
            </a:r>
            <a:r>
              <a:rPr/>
              <a:t> show |corr| &gt; 0.35 with the target, validating focus on advantage metrics.</a:t>
            </a:r>
          </a:p>
          <a:p>
            <a:pPr lvl="0"/>
            <a:r>
              <a:rPr/>
              <a:t>Distributions show heavy skew in gold/XP diffs → motivated log transforms/L2 regularization.</a:t>
            </a:r>
          </a:p>
          <a:p>
            <a:pPr lvl="0"/>
            <a:r>
              <a:rPr/>
              <a:t>Generated figures: class balance, missingness (none), objective control comparison, top correlation heatmap.</a:t>
            </a:r>
          </a:p>
        </p:txBody>
      </p:sp>
      <p:pic>
        <p:nvPicPr>
          <p:cNvPr descr="../figures/eda/class_bal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Class balance</a:t>
            </a:r>
          </a:p>
        </p:txBody>
      </p:sp>
      <p:pic>
        <p:nvPicPr>
          <p:cNvPr descr="../figures/eda/objective_contro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711200"/>
            <a:ext cx="5105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Objective control</a:t>
            </a:r>
          </a:p>
        </p:txBody>
      </p:sp>
      <p:pic>
        <p:nvPicPr>
          <p:cNvPr descr="../figures/eda/top_feature_correlation_heatmap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632200" y="203200"/>
            <a:ext cx="4978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Top feature correlations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– Feature Engineering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Notebook: </a:t>
            </a:r>
            <a:r>
              <a:rPr>
                <a:latin typeface="Courier"/>
              </a:rPr>
              <a:t>notebooks/modeling/feature_engineering_playbook.ipynb</a:t>
            </a:r>
            <a:r>
              <a:rPr/>
              <a:t>.</a:t>
            </a:r>
          </a:p>
          <a:p>
            <a:pPr lvl="0"/>
            <a:r>
              <a:rPr/>
              <a:t>Engineered ratios/shares to express </a:t>
            </a:r>
            <a:r>
              <a:rPr i="1"/>
              <a:t>relative</a:t>
            </a:r>
            <a:r>
              <a:rPr/>
              <a:t> control: </a:t>
            </a:r>
            <a:r>
              <a:rPr>
                <a:latin typeface="Courier"/>
              </a:rPr>
              <a:t>blue_objective_share</a:t>
            </a:r>
            <a:r>
              <a:rPr/>
              <a:t>, </a:t>
            </a:r>
            <a:r>
              <a:rPr>
                <a:latin typeface="Courier"/>
              </a:rPr>
              <a:t>blue_vision_share</a:t>
            </a:r>
            <a:r>
              <a:rPr/>
              <a:t>, </a:t>
            </a:r>
            <a:r>
              <a:rPr>
                <a:latin typeface="Courier"/>
              </a:rPr>
              <a:t>blue_kill_share</a:t>
            </a:r>
            <a:r>
              <a:rPr/>
              <a:t>, ward efficiency, gold/kills, XP/minute, momentum interactions (</a:t>
            </a:r>
            <a:r>
              <a:rPr>
                <a:latin typeface="Courier"/>
              </a:rPr>
              <a:t>gold_obj_momentum</a:t>
            </a:r>
            <a:r>
              <a:rPr/>
              <a:t>, </a:t>
            </a:r>
            <a:r>
              <a:rPr>
                <a:latin typeface="Courier"/>
              </a:rPr>
              <a:t>xp_kill_momentum</a:t>
            </a:r>
            <a:r>
              <a:rPr/>
              <a:t>).</a:t>
            </a:r>
          </a:p>
          <a:p>
            <a:pPr lvl="0"/>
            <a:r>
              <a:rPr/>
              <a:t>Safeguards: </a:t>
            </a:r>
            <a:r>
              <a:rPr>
                <a:latin typeface="Courier"/>
              </a:rPr>
              <a:t>safe_ratio</a:t>
            </a:r>
            <a:r>
              <a:rPr/>
              <a:t> prevents divide-by-zero, </a:t>
            </a:r>
            <a:r>
              <a:rPr>
                <a:latin typeface="Courier"/>
              </a:rPr>
              <a:t>gameId</a:t>
            </a:r>
            <a:r>
              <a:rPr/>
              <a:t> dropped.</a:t>
            </a:r>
          </a:p>
          <a:p>
            <a:pPr lvl="0"/>
            <a:r>
              <a:rPr/>
              <a:t>Artifacts: </a:t>
            </a:r>
            <a:r>
              <a:rPr>
                <a:latin typeface="Courier"/>
              </a:rPr>
              <a:t>data/processed/engineered_features.csv</a:t>
            </a:r>
            <a:r>
              <a:rPr/>
              <a:t>, plus stratified train/test splits so every modeling notebook consumes identical inputs.</a:t>
            </a:r>
          </a:p>
          <a:p>
            <a:pPr lvl="0"/>
            <a:r>
              <a:rPr/>
              <a:t>Rationale: tree/linear/NN models no longer have to infer ratios from raw totals; improves interpretability tied to in-game concepts.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– Baseline: TensorFlow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Notebook: </a:t>
            </a:r>
            <a:r>
              <a:rPr>
                <a:latin typeface="Courier"/>
              </a:rPr>
              <a:t>logistic_regression_tensorflow.ipynb</a:t>
            </a:r>
            <a:r>
              <a:rPr/>
              <a:t>; architecture = single sigmoid neuron with StandardScaler.</a:t>
            </a:r>
          </a:p>
          <a:p>
            <a:pPr lvl="0"/>
            <a:r>
              <a:rPr/>
              <a:t>Hyperparameters chosen:</a:t>
            </a:r>
          </a:p>
          <a:p>
            <a:pPr lvl="1"/>
            <a:r>
              <a:rPr>
                <a:latin typeface="Courier"/>
              </a:rPr>
              <a:t>loss='binary_crossentropy'</a:t>
            </a:r>
            <a:r>
              <a:rPr/>
              <a:t> (Bernoulli likelihood), </a:t>
            </a:r>
            <a:r>
              <a:rPr>
                <a:latin typeface="Courier"/>
              </a:rPr>
              <a:t>Adam</a:t>
            </a:r>
            <a:r>
              <a:rPr/>
              <a:t> optimizer.</a:t>
            </a:r>
          </a:p>
          <a:p>
            <a:pPr lvl="1"/>
            <a:r>
              <a:rPr/>
              <a:t>L2 penalty </a:t>
            </a:r>
            <a:r>
              <a:rPr>
                <a:latin typeface="Courier"/>
              </a:rPr>
              <a:t>5e-4</a:t>
            </a:r>
            <a:r>
              <a:rPr/>
              <a:t> to tame correlated gold/XP features.</a:t>
            </a:r>
          </a:p>
          <a:p>
            <a:pPr lvl="1"/>
            <a:r>
              <a:rPr/>
              <a:t>Learning rate </a:t>
            </a:r>
            <a:r>
              <a:rPr>
                <a:latin typeface="Courier"/>
              </a:rPr>
              <a:t>1e-3</a:t>
            </a:r>
            <a:r>
              <a:rPr/>
              <a:t>, batch size </a:t>
            </a:r>
            <a:r>
              <a:rPr>
                <a:latin typeface="Courier"/>
              </a:rPr>
              <a:t>64</a:t>
            </a:r>
            <a:r>
              <a:rPr/>
              <a:t>, EarlyStopping (patience 10, monitor validation ROC-AUC).</a:t>
            </a:r>
          </a:p>
          <a:p>
            <a:pPr lvl="0"/>
            <a:r>
              <a:rPr/>
              <a:t>Representative hold-out metrics (raw features): Accuracy 0.716, F1 0.717, ROC-AUC 0.806.</a:t>
            </a:r>
          </a:p>
          <a:p>
            <a:pPr lvl="0"/>
            <a:r>
              <a:rPr/>
              <a:t>Why baseline matters: interpretable coefficients for report + satisfies rubric requirement for linear model.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– TensorFlow Decision Forest (Random Forest analogue)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Notebook: </a:t>
            </a:r>
            <a:r>
              <a:rPr>
                <a:latin typeface="Courier"/>
              </a:rPr>
              <a:t>random_forest_tensorflow.ipynb</a:t>
            </a:r>
            <a:r>
              <a:rPr/>
              <a:t> (TF-DF RandomForestModel).</a:t>
            </a:r>
          </a:p>
          <a:p>
            <a:pPr lvl="0"/>
            <a:r>
              <a:rPr/>
              <a:t>Key settings: </a:t>
            </a:r>
            <a:r>
              <a:rPr>
                <a:latin typeface="Courier"/>
              </a:rPr>
              <a:t>num_trees=400</a:t>
            </a:r>
            <a:r>
              <a:rPr/>
              <a:t>, </a:t>
            </a:r>
            <a:r>
              <a:rPr>
                <a:latin typeface="Courier"/>
              </a:rPr>
              <a:t>min_examples=2</a:t>
            </a:r>
            <a:r>
              <a:rPr/>
              <a:t>, </a:t>
            </a:r>
            <a:r>
              <a:rPr>
                <a:latin typeface="Courier"/>
              </a:rPr>
              <a:t>max_depth=None</a:t>
            </a:r>
            <a:r>
              <a:rPr/>
              <a:t>, </a:t>
            </a:r>
            <a:r>
              <a:rPr>
                <a:latin typeface="Courier"/>
              </a:rPr>
              <a:t>task=CLASSIFICATION</a:t>
            </a:r>
            <a:r>
              <a:rPr/>
              <a:t>, </a:t>
            </a:r>
            <a:r>
              <a:rPr>
                <a:latin typeface="Courier"/>
              </a:rPr>
              <a:t>categorical_algorithm='CART'</a:t>
            </a:r>
            <a:r>
              <a:rPr/>
              <a:t> for axis-aligned splits.</a:t>
            </a:r>
          </a:p>
          <a:p>
            <a:pPr lvl="0"/>
            <a:r>
              <a:rPr/>
              <a:t>Feature importance snippets (using </a:t>
            </a:r>
            <a:r>
              <a:rPr>
                <a:latin typeface="Courier"/>
              </a:rPr>
              <a:t>inspector.variable_importances()</a:t>
            </a:r>
            <a:r>
              <a:rPr/>
              <a:t>): </a:t>
            </a:r>
            <a:r>
              <a:rPr>
                <a:latin typeface="Courier"/>
              </a:rPr>
              <a:t>blueGoldDiff</a:t>
            </a:r>
            <a:r>
              <a:rPr/>
              <a:t>, </a:t>
            </a:r>
            <a:r>
              <a:rPr>
                <a:latin typeface="Courier"/>
              </a:rPr>
              <a:t>blueExperienceDiff</a:t>
            </a:r>
            <a:r>
              <a:rPr/>
              <a:t>, </a:t>
            </a:r>
            <a:r>
              <a:rPr>
                <a:latin typeface="Courier"/>
              </a:rPr>
              <a:t>blueDragons</a:t>
            </a:r>
            <a:r>
              <a:rPr/>
              <a:t>, </a:t>
            </a:r>
            <a:r>
              <a:rPr>
                <a:latin typeface="Courier"/>
              </a:rPr>
              <a:t>blueHeralds</a:t>
            </a:r>
            <a:r>
              <a:rPr/>
              <a:t>, </a:t>
            </a:r>
            <a:r>
              <a:rPr>
                <a:latin typeface="Courier"/>
              </a:rPr>
              <a:t>blueWardsPlaced</a:t>
            </a:r>
            <a:r>
              <a:rPr/>
              <a:t> dominate → echoes EDA and logistic coefficients.</a:t>
            </a:r>
          </a:p>
          <a:p>
            <a:pPr lvl="0"/>
            <a:r>
              <a:rPr/>
              <a:t>Performance: OOB accuracy ~0.724, confirming modest gain because dataset is mostly linear in advantage features.</a:t>
            </a:r>
          </a:p>
          <a:p>
            <a:pPr lvl="0"/>
            <a:r>
              <a:rPr/>
              <a:t>Next tuning levers: adjust </a:t>
            </a:r>
            <a:r>
              <a:rPr>
                <a:latin typeface="Courier"/>
              </a:rPr>
              <a:t>num_trees</a:t>
            </a:r>
            <a:r>
              <a:rPr/>
              <a:t>, introduce subsampling (</a:t>
            </a:r>
            <a:r>
              <a:rPr>
                <a:latin typeface="Courier"/>
              </a:rPr>
              <a:t>sampling_ratio</a:t>
            </a:r>
            <a:r>
              <a:rPr/>
              <a:t>), limit depth to reduce variance, or switch to TF-DF Gradient Boosted Trees.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– Deep MLP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Notebook: </a:t>
            </a:r>
            <a:r>
              <a:rPr>
                <a:latin typeface="Courier"/>
              </a:rPr>
              <a:t>mlp_tensorflow.ipynb</a:t>
            </a:r>
            <a:r>
              <a:rPr/>
              <a:t> uses engineered features + StandardScaler.</a:t>
            </a:r>
          </a:p>
          <a:p>
            <a:pPr lvl="0"/>
            <a:r>
              <a:rPr/>
              <a:t>Architecture: two dense layers (default </a:t>
            </a:r>
            <a:r>
              <a:rPr>
                <a:latin typeface="Courier"/>
              </a:rPr>
              <a:t>[128, 64]</a:t>
            </a:r>
            <a:r>
              <a:rPr/>
              <a:t>) with ReLU, dropout 0.3, L2 </a:t>
            </a:r>
            <a:r>
              <a:rPr>
                <a:latin typeface="Courier"/>
              </a:rPr>
              <a:t>5e-4</a:t>
            </a:r>
            <a:r>
              <a:rPr/>
              <a:t>, sigmoid output.</a:t>
            </a:r>
          </a:p>
          <a:p>
            <a:pPr lvl="0"/>
            <a:r>
              <a:rPr/>
              <a:t>Training: Adam (</a:t>
            </a:r>
            <a:r>
              <a:rPr>
                <a:latin typeface="Courier"/>
              </a:rPr>
              <a:t>lr=1e-3</a:t>
            </a:r>
            <a:r>
              <a:rPr/>
              <a:t>), batch size 64, EarlyStopping on validation ROC-AUC (patience 12). History plots included for convergence evidence.</a:t>
            </a:r>
          </a:p>
          <a:p>
            <a:pPr lvl="0"/>
            <a:r>
              <a:rPr/>
              <a:t>Metrics align with baselines (Acc ≈0.72, ROC-AUC ≈0.81) but offer path to improvement with hyperparameter sweeps or richer features.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7 – Hyperparameter Sweeper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Notebook: </a:t>
            </a:r>
            <a:r>
              <a:rPr>
                <a:latin typeface="Courier"/>
              </a:rPr>
              <a:t>hyperparameter_sweeper_tensorflow.ipynb</a:t>
            </a:r>
            <a:r>
              <a:rPr/>
              <a:t> (KerasTuner RandomSearch) consumes </a:t>
            </a:r>
            <a:r>
              <a:rPr>
                <a:latin typeface="Courier"/>
              </a:rPr>
              <a:t>engineered_features.csv</a:t>
            </a:r>
            <a:r>
              <a:rPr/>
              <a:t>.</a:t>
            </a:r>
          </a:p>
          <a:p>
            <a:pPr lvl="0"/>
            <a:r>
              <a:rPr/>
              <a:t>Search space: hidden layer sizes [(128,64), (96,48), (64,32)], dropout 0.2–0.5, L2 1e-5–1e-3, learning rate 5e-4–3e-3, batch size 32–96.</a:t>
            </a:r>
          </a:p>
          <a:p>
            <a:pPr lvl="0"/>
            <a:r>
              <a:rPr/>
              <a:t>Objective: maximize validation ROC-AUC with EarlyStopping; outputs best configuration + validation metrics.</a:t>
            </a:r>
          </a:p>
          <a:p>
            <a:pPr lvl="0"/>
            <a:r>
              <a:rPr/>
              <a:t>Purpose: Decouple tuning from training so we can port best hyperparameters into production notebook/scripts.</a:t>
            </a:r>
          </a:p>
        </p:txBody>
      </p:sp>
      <p:pic>
        <p:nvPicPr>
          <p:cNvPr descr="../figures/model_performance/test_metric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10100" y="203200"/>
            <a:ext cx="3009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Model metric comparison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– Why Hyperparameters Were Selected /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Logistic</a:t>
            </a:r>
            <a:r>
              <a:rPr/>
              <a:t>: tried </a:t>
            </a:r>
            <a:r>
              <a:rPr>
                <a:latin typeface="Courier"/>
              </a:rPr>
              <a:t>C ∈ {0.1,1,10}</a:t>
            </a:r>
            <a:r>
              <a:rPr/>
              <a:t> (via adjusting L2) and batch sizes 32/64; larger C led to unstable coefficients given skewed features.</a:t>
            </a:r>
          </a:p>
          <a:p>
            <a:pPr lvl="0"/>
            <a:r>
              <a:rPr b="1"/>
              <a:t>Random Forest</a:t>
            </a:r>
            <a:r>
              <a:rPr/>
              <a:t>: evaluated </a:t>
            </a:r>
            <a:r>
              <a:rPr>
                <a:latin typeface="Courier"/>
              </a:rPr>
              <a:t>num_trees</a:t>
            </a:r>
            <a:r>
              <a:rPr/>
              <a:t> from 200–600; &gt;400 trees gave diminishing returns with longer trains, max_depth left unlimited for interpretability. Consider enabling subsampling for next iteration.</a:t>
            </a:r>
          </a:p>
          <a:p>
            <a:pPr lvl="0"/>
            <a:r>
              <a:rPr b="1"/>
              <a:t>MLP</a:t>
            </a:r>
            <a:r>
              <a:rPr/>
              <a:t>: compared </a:t>
            </a:r>
            <a:r>
              <a:rPr>
                <a:latin typeface="Courier"/>
              </a:rPr>
              <a:t>[64,32]</a:t>
            </a:r>
            <a:r>
              <a:rPr/>
              <a:t> vs </a:t>
            </a:r>
            <a:r>
              <a:rPr>
                <a:latin typeface="Courier"/>
              </a:rPr>
              <a:t>[128,64]</a:t>
            </a:r>
            <a:r>
              <a:rPr/>
              <a:t>, dropout 0.2–0.4, learning rate 1e-3 vs 5e-4; results close, motivating automated sweeps.</a:t>
            </a:r>
          </a:p>
          <a:p>
            <a:pPr lvl="0"/>
            <a:r>
              <a:rPr b="1"/>
              <a:t>Tuner</a:t>
            </a:r>
            <a:r>
              <a:rPr/>
              <a:t>: codified the above ranges so future experiments (esp. on GPU) can scale to 25–50 trials.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– Current Gaps &amp; Next Moves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Gradient Boosted Trees</a:t>
            </a:r>
            <a:r>
              <a:rPr/>
              <a:t> (TF-DF): capture additive interactions better than bagging; will compare vs. RF/logistic using engineered features.</a:t>
            </a:r>
          </a:p>
          <a:p>
            <a:pPr lvl="0" indent="-342900" marL="342900">
              <a:buAutoNum type="arabicPeriod"/>
            </a:pPr>
            <a:r>
              <a:rPr b="1"/>
              <a:t>Tabular Transformer / Wide &amp; Deep</a:t>
            </a:r>
            <a:r>
              <a:rPr/>
              <a:t>: leverage attention to model feature interactions; requires GPU but may push ROC-AUC beyond 0.82.</a:t>
            </a:r>
          </a:p>
          <a:p>
            <a:pPr lvl="0" indent="-342900" marL="342900">
              <a:buAutoNum type="arabicPeriod"/>
            </a:pPr>
            <a:r>
              <a:rPr b="1"/>
              <a:t>Additional Features</a:t>
            </a:r>
            <a:r>
              <a:rPr/>
              <a:t>: incorporate explicit tower/ward differentials, KDA ratios, tempo scores highlighted during raw CSV review.</a:t>
            </a:r>
          </a:p>
          <a:p>
            <a:pPr lvl="0" indent="-342900" marL="342900">
              <a:buAutoNum type="arabicPeriod"/>
            </a:pPr>
            <a:r>
              <a:rPr b="1"/>
              <a:t>Cross-validation Metrics</a:t>
            </a:r>
            <a:r>
              <a:rPr/>
              <a:t>: run k-fold evaluations for RF/MLP to mirror logistic CV, ensuring robustness before report submission.</a:t>
            </a:r>
          </a:p>
          <a:p>
            <a:pPr lvl="0" indent="-342900" marL="342900">
              <a:buAutoNum type="arabicPeriod"/>
            </a:pPr>
            <a:r>
              <a:rPr b="1"/>
              <a:t>Documentation</a:t>
            </a:r>
            <a:r>
              <a:rPr/>
              <a:t>: integrate notebook takeaways into LaTeX report + convert this deck into slides/Google Slides for presentation.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– Validation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</a:t>
            </a:r>
            <a:r>
              <a:rPr>
                <a:latin typeface="Courier"/>
              </a:rPr>
              <a:t>feature_engineering_playbook.ipynb</a:t>
            </a:r>
            <a:r>
              <a:rPr/>
              <a:t> → refresh engineered CSV.</a:t>
            </a:r>
          </a:p>
          <a:p>
            <a:pPr lvl="0"/>
            <a:r>
              <a:rPr/>
              <a:t>Execute modeling notebooks (logistic → RF → MLP) with updated features; capture metrics &amp; plots.</a:t>
            </a:r>
          </a:p>
          <a:p>
            <a:pPr lvl="0"/>
            <a:r>
              <a:rPr/>
              <a:t>Launch </a:t>
            </a:r>
            <a:r>
              <a:rPr>
                <a:latin typeface="Courier"/>
              </a:rPr>
              <a:t>hyperparameter_sweeper_tensorflow.ipynb</a:t>
            </a:r>
            <a:r>
              <a:rPr/>
              <a:t> for deeper search; sync best hyperparameters into MLP training.</a:t>
            </a:r>
          </a:p>
          <a:p>
            <a:pPr lvl="0"/>
            <a:r>
              <a:rPr/>
              <a:t>Prepare new notebooks for Gradient Boosted Trees &amp; Transformer models; reuse engineered dataset to keep comparisons fair.</a:t>
            </a:r>
          </a:p>
          <a:p>
            <a:pPr lvl="0"/>
            <a:r>
              <a:rPr/>
              <a:t>Update </a:t>
            </a:r>
            <a:r>
              <a:rPr>
                <a:latin typeface="Courier"/>
              </a:rPr>
              <a:t>docs/plan_of_action.md</a:t>
            </a:r>
            <a:r>
              <a:rPr/>
              <a:t> &amp; final report sections with new insights.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2025-11-30T00:19:46Z</dcterms:created>
  <dcterms:modified xsi:type="dcterms:W3CDTF">2025-11-30T00:19:46Z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